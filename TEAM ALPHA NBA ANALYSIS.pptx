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6" r:id="rId3"/>
    <p:sldId id="264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69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BA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BA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BA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BA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BA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BA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[NBA ANALYSIS.xlsx]Analysis!PivotTable1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AVERAGE</a:t>
            </a:r>
            <a:r>
              <a:rPr lang="en-US" b="1" baseline="0">
                <a:solidFill>
                  <a:schemeClr val="tx1"/>
                </a:solidFill>
              </a:rPr>
              <a:t> OF YEARS PLAYED BY DRAFT ROUND</a:t>
            </a:r>
            <a:endParaRPr lang="en-US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1">
              <a:lumMod val="85000"/>
              <a:lumOff val="1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rgbClr val="700000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1">
              <a:lumMod val="85000"/>
              <a:lumOff val="1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rgbClr val="700000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1">
              <a:lumMod val="85000"/>
              <a:lumOff val="1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rgbClr val="700000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Analysis!$E$2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4C-46B9-AB10-BFABB4E083C9}"/>
              </c:ext>
            </c:extLst>
          </c:dPt>
          <c:dPt>
            <c:idx val="1"/>
            <c:bubble3D val="0"/>
            <c:spPr>
              <a:solidFill>
                <a:srgbClr val="7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4C-46B9-AB10-BFABB4E083C9}"/>
              </c:ext>
            </c:extLst>
          </c:dPt>
          <c:cat>
            <c:strRef>
              <c:f>Analysis!$D$3:$D$5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Analysis!$E$3:$E$5</c:f>
              <c:numCache>
                <c:formatCode>General</c:formatCode>
                <c:ptCount val="2"/>
                <c:pt idx="0">
                  <c:v>7.7462203023758098</c:v>
                </c:pt>
                <c:pt idx="1">
                  <c:v>4.3924963924963922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4C-46B9-AB10-BFABB4E08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[NBA ANALYSIS.xlsx]Analysis!PivotTable3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10 PLAYERS WITH THE HIGHEST POINTS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Analysis!$K$2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0000"/>
            </a:solidFill>
            <a:ln>
              <a:noFill/>
            </a:ln>
            <a:effectLst/>
          </c:spPr>
          <c:invertIfNegative val="0"/>
          <c:cat>
            <c:strRef>
              <c:f>Analysis!$J$3:$J$13</c:f>
              <c:strCache>
                <c:ptCount val="10"/>
                <c:pt idx="0">
                  <c:v>LeBron James</c:v>
                </c:pt>
                <c:pt idx="1">
                  <c:v>Kobe Bryant</c:v>
                </c:pt>
                <c:pt idx="2">
                  <c:v>Dirk Nowitzki</c:v>
                </c:pt>
                <c:pt idx="3">
                  <c:v>Shaquille O'Neal</c:v>
                </c:pt>
                <c:pt idx="4">
                  <c:v>Carmelo Anthony</c:v>
                </c:pt>
                <c:pt idx="5">
                  <c:v>Tim Duncan</c:v>
                </c:pt>
                <c:pt idx="6">
                  <c:v>Paul Pierce</c:v>
                </c:pt>
                <c:pt idx="7">
                  <c:v>Kevin Garnett</c:v>
                </c:pt>
                <c:pt idx="8">
                  <c:v>Vince Carter</c:v>
                </c:pt>
                <c:pt idx="9">
                  <c:v>Kevin Durant</c:v>
                </c:pt>
              </c:strCache>
            </c:strRef>
          </c:cat>
          <c:val>
            <c:numRef>
              <c:f>Analysis!$K$3:$K$13</c:f>
              <c:numCache>
                <c:formatCode>General</c:formatCode>
                <c:ptCount val="10"/>
                <c:pt idx="0">
                  <c:v>36559</c:v>
                </c:pt>
                <c:pt idx="1">
                  <c:v>33643</c:v>
                </c:pt>
                <c:pt idx="2">
                  <c:v>31560</c:v>
                </c:pt>
                <c:pt idx="3">
                  <c:v>28596</c:v>
                </c:pt>
                <c:pt idx="4">
                  <c:v>28042</c:v>
                </c:pt>
                <c:pt idx="5">
                  <c:v>26496</c:v>
                </c:pt>
                <c:pt idx="6">
                  <c:v>26397</c:v>
                </c:pt>
                <c:pt idx="7">
                  <c:v>26071</c:v>
                </c:pt>
                <c:pt idx="8">
                  <c:v>25728</c:v>
                </c:pt>
                <c:pt idx="9">
                  <c:v>24936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B0-4FB2-9BFE-D91733BFB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009887"/>
        <c:axId val="919025727"/>
      </c:barChart>
      <c:catAx>
        <c:axId val="91900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19025727"/>
        <c:crosses val="autoZero"/>
        <c:auto val="1"/>
        <c:lblAlgn val="ctr"/>
        <c:lblOffset val="100"/>
        <c:noMultiLvlLbl val="0"/>
      </c:catAx>
      <c:valAx>
        <c:axId val="919025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1900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[NBA ANALYSIS.xlsx]Analysis!PivotTable2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 OF PLAYERS WITH HE LONGEST CAREER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Analysis!$H$2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0000"/>
            </a:solidFill>
            <a:ln>
              <a:noFill/>
            </a:ln>
            <a:effectLst/>
          </c:spPr>
          <c:invertIfNegative val="0"/>
          <c:cat>
            <c:strRef>
              <c:f>Analysis!$G$3:$G$33</c:f>
              <c:strCache>
                <c:ptCount val="30"/>
                <c:pt idx="0">
                  <c:v>MIL</c:v>
                </c:pt>
                <c:pt idx="1">
                  <c:v>SAC</c:v>
                </c:pt>
                <c:pt idx="2">
                  <c:v>CHI</c:v>
                </c:pt>
                <c:pt idx="3">
                  <c:v>DET</c:v>
                </c:pt>
                <c:pt idx="4">
                  <c:v>OKC</c:v>
                </c:pt>
                <c:pt idx="5">
                  <c:v>MIN</c:v>
                </c:pt>
                <c:pt idx="6">
                  <c:v>CHA</c:v>
                </c:pt>
                <c:pt idx="7">
                  <c:v>WAS</c:v>
                </c:pt>
                <c:pt idx="8">
                  <c:v>PHI</c:v>
                </c:pt>
                <c:pt idx="9">
                  <c:v>GSW</c:v>
                </c:pt>
                <c:pt idx="10">
                  <c:v>UTA</c:v>
                </c:pt>
                <c:pt idx="11">
                  <c:v>HOU</c:v>
                </c:pt>
                <c:pt idx="12">
                  <c:v>ATL</c:v>
                </c:pt>
                <c:pt idx="13">
                  <c:v>IND</c:v>
                </c:pt>
                <c:pt idx="14">
                  <c:v>CLE</c:v>
                </c:pt>
                <c:pt idx="15">
                  <c:v>DEN</c:v>
                </c:pt>
                <c:pt idx="16">
                  <c:v>LAL</c:v>
                </c:pt>
                <c:pt idx="17">
                  <c:v>BOS</c:v>
                </c:pt>
                <c:pt idx="18">
                  <c:v>PHO</c:v>
                </c:pt>
                <c:pt idx="19">
                  <c:v>LAC</c:v>
                </c:pt>
                <c:pt idx="20">
                  <c:v>TOR</c:v>
                </c:pt>
                <c:pt idx="21">
                  <c:v>ORL</c:v>
                </c:pt>
                <c:pt idx="22">
                  <c:v>SAS</c:v>
                </c:pt>
                <c:pt idx="23">
                  <c:v>POR</c:v>
                </c:pt>
                <c:pt idx="24">
                  <c:v>BRK</c:v>
                </c:pt>
                <c:pt idx="25">
                  <c:v>DAL</c:v>
                </c:pt>
                <c:pt idx="26">
                  <c:v>NYK</c:v>
                </c:pt>
                <c:pt idx="27">
                  <c:v>MEM</c:v>
                </c:pt>
                <c:pt idx="28">
                  <c:v>MIA</c:v>
                </c:pt>
                <c:pt idx="29">
                  <c:v>NOP</c:v>
                </c:pt>
              </c:strCache>
            </c:strRef>
          </c:cat>
          <c:val>
            <c:numRef>
              <c:f>Analysis!$H$3:$H$33</c:f>
              <c:numCache>
                <c:formatCode>General</c:formatCode>
                <c:ptCount val="30"/>
                <c:pt idx="0">
                  <c:v>36</c:v>
                </c:pt>
                <c:pt idx="1">
                  <c:v>35</c:v>
                </c:pt>
                <c:pt idx="2">
                  <c:v>32</c:v>
                </c:pt>
                <c:pt idx="3">
                  <c:v>32</c:v>
                </c:pt>
                <c:pt idx="4">
                  <c:v>30</c:v>
                </c:pt>
                <c:pt idx="5">
                  <c:v>30</c:v>
                </c:pt>
                <c:pt idx="6">
                  <c:v>29</c:v>
                </c:pt>
                <c:pt idx="7">
                  <c:v>28</c:v>
                </c:pt>
                <c:pt idx="8">
                  <c:v>28</c:v>
                </c:pt>
                <c:pt idx="9">
                  <c:v>28</c:v>
                </c:pt>
                <c:pt idx="10">
                  <c:v>28</c:v>
                </c:pt>
                <c:pt idx="11">
                  <c:v>28</c:v>
                </c:pt>
                <c:pt idx="12">
                  <c:v>27</c:v>
                </c:pt>
                <c:pt idx="13">
                  <c:v>27</c:v>
                </c:pt>
                <c:pt idx="14">
                  <c:v>26</c:v>
                </c:pt>
                <c:pt idx="15">
                  <c:v>26</c:v>
                </c:pt>
                <c:pt idx="16">
                  <c:v>25</c:v>
                </c:pt>
                <c:pt idx="17">
                  <c:v>24</c:v>
                </c:pt>
                <c:pt idx="18">
                  <c:v>24</c:v>
                </c:pt>
                <c:pt idx="19">
                  <c:v>23</c:v>
                </c:pt>
                <c:pt idx="20">
                  <c:v>22</c:v>
                </c:pt>
                <c:pt idx="21">
                  <c:v>21</c:v>
                </c:pt>
                <c:pt idx="22">
                  <c:v>20</c:v>
                </c:pt>
                <c:pt idx="23">
                  <c:v>20</c:v>
                </c:pt>
                <c:pt idx="24">
                  <c:v>19</c:v>
                </c:pt>
                <c:pt idx="25">
                  <c:v>18</c:v>
                </c:pt>
                <c:pt idx="26">
                  <c:v>18</c:v>
                </c:pt>
                <c:pt idx="27">
                  <c:v>18</c:v>
                </c:pt>
                <c:pt idx="28">
                  <c:v>17</c:v>
                </c:pt>
                <c:pt idx="2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5E-43E6-9710-6E7FB61604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036287"/>
        <c:axId val="919019967"/>
      </c:barChart>
      <c:catAx>
        <c:axId val="91903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19019967"/>
        <c:crosses val="autoZero"/>
        <c:auto val="1"/>
        <c:lblAlgn val="ctr"/>
        <c:lblOffset val="100"/>
        <c:noMultiLvlLbl val="0"/>
      </c:catAx>
      <c:valAx>
        <c:axId val="919019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19036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[NBA ANALYSIS.xlsx]Analysis!PivotTable2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TEAMS OF PLAYERS WITH HE LONGEST CAREER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Analysis!$H$2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0000"/>
            </a:solidFill>
            <a:ln>
              <a:noFill/>
            </a:ln>
            <a:effectLst/>
          </c:spPr>
          <c:invertIfNegative val="0"/>
          <c:cat>
            <c:strRef>
              <c:f>Analysis!$G$3:$G$33</c:f>
              <c:strCache>
                <c:ptCount val="30"/>
                <c:pt idx="0">
                  <c:v>MIL</c:v>
                </c:pt>
                <c:pt idx="1">
                  <c:v>SAC</c:v>
                </c:pt>
                <c:pt idx="2">
                  <c:v>CHI</c:v>
                </c:pt>
                <c:pt idx="3">
                  <c:v>DET</c:v>
                </c:pt>
                <c:pt idx="4">
                  <c:v>OKC</c:v>
                </c:pt>
                <c:pt idx="5">
                  <c:v>MIN</c:v>
                </c:pt>
                <c:pt idx="6">
                  <c:v>CHA</c:v>
                </c:pt>
                <c:pt idx="7">
                  <c:v>WAS</c:v>
                </c:pt>
                <c:pt idx="8">
                  <c:v>PHI</c:v>
                </c:pt>
                <c:pt idx="9">
                  <c:v>GSW</c:v>
                </c:pt>
                <c:pt idx="10">
                  <c:v>UTA</c:v>
                </c:pt>
                <c:pt idx="11">
                  <c:v>HOU</c:v>
                </c:pt>
                <c:pt idx="12">
                  <c:v>ATL</c:v>
                </c:pt>
                <c:pt idx="13">
                  <c:v>IND</c:v>
                </c:pt>
                <c:pt idx="14">
                  <c:v>CLE</c:v>
                </c:pt>
                <c:pt idx="15">
                  <c:v>DEN</c:v>
                </c:pt>
                <c:pt idx="16">
                  <c:v>LAL</c:v>
                </c:pt>
                <c:pt idx="17">
                  <c:v>BOS</c:v>
                </c:pt>
                <c:pt idx="18">
                  <c:v>PHO</c:v>
                </c:pt>
                <c:pt idx="19">
                  <c:v>LAC</c:v>
                </c:pt>
                <c:pt idx="20">
                  <c:v>TOR</c:v>
                </c:pt>
                <c:pt idx="21">
                  <c:v>ORL</c:v>
                </c:pt>
                <c:pt idx="22">
                  <c:v>SAS</c:v>
                </c:pt>
                <c:pt idx="23">
                  <c:v>POR</c:v>
                </c:pt>
                <c:pt idx="24">
                  <c:v>BRK</c:v>
                </c:pt>
                <c:pt idx="25">
                  <c:v>DAL</c:v>
                </c:pt>
                <c:pt idx="26">
                  <c:v>NYK</c:v>
                </c:pt>
                <c:pt idx="27">
                  <c:v>MEM</c:v>
                </c:pt>
                <c:pt idx="28">
                  <c:v>MIA</c:v>
                </c:pt>
                <c:pt idx="29">
                  <c:v>NOP</c:v>
                </c:pt>
              </c:strCache>
            </c:strRef>
          </c:cat>
          <c:val>
            <c:numRef>
              <c:f>Analysis!$H$3:$H$33</c:f>
              <c:numCache>
                <c:formatCode>General</c:formatCode>
                <c:ptCount val="30"/>
                <c:pt idx="0">
                  <c:v>36</c:v>
                </c:pt>
                <c:pt idx="1">
                  <c:v>35</c:v>
                </c:pt>
                <c:pt idx="2">
                  <c:v>32</c:v>
                </c:pt>
                <c:pt idx="3">
                  <c:v>32</c:v>
                </c:pt>
                <c:pt idx="4">
                  <c:v>30</c:v>
                </c:pt>
                <c:pt idx="5">
                  <c:v>30</c:v>
                </c:pt>
                <c:pt idx="6">
                  <c:v>29</c:v>
                </c:pt>
                <c:pt idx="7">
                  <c:v>28</c:v>
                </c:pt>
                <c:pt idx="8">
                  <c:v>28</c:v>
                </c:pt>
                <c:pt idx="9">
                  <c:v>28</c:v>
                </c:pt>
                <c:pt idx="10">
                  <c:v>28</c:v>
                </c:pt>
                <c:pt idx="11">
                  <c:v>28</c:v>
                </c:pt>
                <c:pt idx="12">
                  <c:v>27</c:v>
                </c:pt>
                <c:pt idx="13">
                  <c:v>27</c:v>
                </c:pt>
                <c:pt idx="14">
                  <c:v>26</c:v>
                </c:pt>
                <c:pt idx="15">
                  <c:v>26</c:v>
                </c:pt>
                <c:pt idx="16">
                  <c:v>25</c:v>
                </c:pt>
                <c:pt idx="17">
                  <c:v>24</c:v>
                </c:pt>
                <c:pt idx="18">
                  <c:v>24</c:v>
                </c:pt>
                <c:pt idx="19">
                  <c:v>23</c:v>
                </c:pt>
                <c:pt idx="20">
                  <c:v>22</c:v>
                </c:pt>
                <c:pt idx="21">
                  <c:v>21</c:v>
                </c:pt>
                <c:pt idx="22">
                  <c:v>20</c:v>
                </c:pt>
                <c:pt idx="23">
                  <c:v>20</c:v>
                </c:pt>
                <c:pt idx="24">
                  <c:v>19</c:v>
                </c:pt>
                <c:pt idx="25">
                  <c:v>18</c:v>
                </c:pt>
                <c:pt idx="26">
                  <c:v>18</c:v>
                </c:pt>
                <c:pt idx="27">
                  <c:v>18</c:v>
                </c:pt>
                <c:pt idx="28">
                  <c:v>17</c:v>
                </c:pt>
                <c:pt idx="2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84-439C-843D-B4D2AA4D0B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9036287"/>
        <c:axId val="919019967"/>
      </c:barChart>
      <c:catAx>
        <c:axId val="91903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19019967"/>
        <c:crosses val="autoZero"/>
        <c:auto val="1"/>
        <c:lblAlgn val="ctr"/>
        <c:lblOffset val="100"/>
        <c:noMultiLvlLbl val="0"/>
      </c:catAx>
      <c:valAx>
        <c:axId val="919019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19036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[NBA ANALYSIS.xlsx]Analysis!PivotTable4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POINTS PER GAME BY TOTAL ROUNDS PICKED</a:t>
            </a:r>
          </a:p>
        </c:rich>
      </c:tx>
      <c:layout>
        <c:manualLayout>
          <c:xMode val="edge"/>
          <c:yMode val="edge"/>
          <c:x val="0.13723805176051648"/>
          <c:y val="0.127774560476155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943373791682147"/>
          <c:y val="0.34018383166498439"/>
          <c:w val="0.57956453240990624"/>
          <c:h val="0.553113545153711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Analysis!$AA$2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0000"/>
            </a:solidFill>
            <a:ln>
              <a:noFill/>
            </a:ln>
            <a:effectLst/>
          </c:spPr>
          <c:invertIfNegative val="0"/>
          <c:cat>
            <c:strRef>
              <c:f>Analysis!$Z$3:$Z$5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Analysis!$AA$3:$AA$5</c:f>
              <c:numCache>
                <c:formatCode>General</c:formatCode>
                <c:ptCount val="2"/>
                <c:pt idx="0">
                  <c:v>9.0788336933045262</c:v>
                </c:pt>
                <c:pt idx="1">
                  <c:v>4.7493506493506512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E9-42EB-A0AF-83897E5A8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182559"/>
        <c:axId val="21203199"/>
      </c:barChart>
      <c:catAx>
        <c:axId val="211825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1203199"/>
        <c:crosses val="autoZero"/>
        <c:auto val="1"/>
        <c:lblAlgn val="ctr"/>
        <c:lblOffset val="100"/>
        <c:noMultiLvlLbl val="0"/>
      </c:catAx>
      <c:valAx>
        <c:axId val="212031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1182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DRAFT POSITIONS BY SUM OF WIN_SHARES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Analysis!$AD$2</c:f>
              <c:strCache>
                <c:ptCount val="1"/>
                <c:pt idx="0">
                  <c:v>Sum of win_shares</c:v>
                </c:pt>
              </c:strCache>
            </c:strRef>
          </c:tx>
          <c:spPr>
            <a:ln w="19050" cap="rnd">
              <a:solidFill>
                <a:srgbClr val="700000"/>
              </a:solidFill>
              <a:round/>
            </a:ln>
            <a:effectLst/>
          </c:spPr>
          <c:marker>
            <c:symbol val="none"/>
          </c:marker>
          <c:xVal>
            <c:numRef>
              <c:f>Analysis!$AC$3:$AC$62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xVal>
          <c:yVal>
            <c:numRef>
              <c:f>Analysis!$AD$3:$AD$62</c:f>
              <c:numCache>
                <c:formatCode>General</c:formatCode>
                <c:ptCount val="60"/>
                <c:pt idx="0">
                  <c:v>2003.3999999999999</c:v>
                </c:pt>
                <c:pt idx="1">
                  <c:v>1481.9999999999998</c:v>
                </c:pt>
                <c:pt idx="2">
                  <c:v>1663.9999999999998</c:v>
                </c:pt>
                <c:pt idx="3">
                  <c:v>1488.9</c:v>
                </c:pt>
                <c:pt idx="4">
                  <c:v>1462.8</c:v>
                </c:pt>
                <c:pt idx="5">
                  <c:v>700.40000000000009</c:v>
                </c:pt>
                <c:pt idx="6">
                  <c:v>974.09999999999991</c:v>
                </c:pt>
                <c:pt idx="7">
                  <c:v>711.49999999999989</c:v>
                </c:pt>
                <c:pt idx="8">
                  <c:v>1283.7000000000003</c:v>
                </c:pt>
                <c:pt idx="9">
                  <c:v>1091.8999999999996</c:v>
                </c:pt>
                <c:pt idx="10">
                  <c:v>669.00000000000023</c:v>
                </c:pt>
                <c:pt idx="11">
                  <c:v>539.30000000000007</c:v>
                </c:pt>
                <c:pt idx="12">
                  <c:v>904.00000000000011</c:v>
                </c:pt>
                <c:pt idx="13">
                  <c:v>497.8</c:v>
                </c:pt>
                <c:pt idx="14">
                  <c:v>746</c:v>
                </c:pt>
                <c:pt idx="15">
                  <c:v>506.80000000000013</c:v>
                </c:pt>
                <c:pt idx="16">
                  <c:v>545.00000000000011</c:v>
                </c:pt>
                <c:pt idx="17">
                  <c:v>552.5</c:v>
                </c:pt>
                <c:pt idx="18">
                  <c:v>500.00000000000006</c:v>
                </c:pt>
                <c:pt idx="19">
                  <c:v>391.40000000000003</c:v>
                </c:pt>
                <c:pt idx="20">
                  <c:v>644.29999999999984</c:v>
                </c:pt>
                <c:pt idx="21">
                  <c:v>395.09999999999997</c:v>
                </c:pt>
                <c:pt idx="22">
                  <c:v>521.9</c:v>
                </c:pt>
                <c:pt idx="23">
                  <c:v>699.40000000000032</c:v>
                </c:pt>
                <c:pt idx="24">
                  <c:v>380.10000000000008</c:v>
                </c:pt>
                <c:pt idx="25">
                  <c:v>465.09999999999997</c:v>
                </c:pt>
                <c:pt idx="26">
                  <c:v>475.69999999999993</c:v>
                </c:pt>
                <c:pt idx="27">
                  <c:v>371.7</c:v>
                </c:pt>
                <c:pt idx="28">
                  <c:v>330.40000000000009</c:v>
                </c:pt>
                <c:pt idx="29">
                  <c:v>413.40000000000003</c:v>
                </c:pt>
                <c:pt idx="30">
                  <c:v>256.20000000000005</c:v>
                </c:pt>
                <c:pt idx="31">
                  <c:v>240.60000000000002</c:v>
                </c:pt>
                <c:pt idx="32">
                  <c:v>220.6</c:v>
                </c:pt>
                <c:pt idx="33">
                  <c:v>180.50000000000003</c:v>
                </c:pt>
                <c:pt idx="34">
                  <c:v>376.59999999999997</c:v>
                </c:pt>
                <c:pt idx="35">
                  <c:v>155.70000000000002</c:v>
                </c:pt>
                <c:pt idx="36">
                  <c:v>268.39999999999992</c:v>
                </c:pt>
                <c:pt idx="37">
                  <c:v>237.50000000000006</c:v>
                </c:pt>
                <c:pt idx="38">
                  <c:v>190.1</c:v>
                </c:pt>
                <c:pt idx="39">
                  <c:v>201.50000000000006</c:v>
                </c:pt>
                <c:pt idx="40">
                  <c:v>231.79999999999998</c:v>
                </c:pt>
                <c:pt idx="41">
                  <c:v>241.20000000000002</c:v>
                </c:pt>
                <c:pt idx="42">
                  <c:v>270.19999999999993</c:v>
                </c:pt>
                <c:pt idx="43">
                  <c:v>95.300000000000011</c:v>
                </c:pt>
                <c:pt idx="44">
                  <c:v>358.70000000000005</c:v>
                </c:pt>
                <c:pt idx="45">
                  <c:v>200.6</c:v>
                </c:pt>
                <c:pt idx="46">
                  <c:v>244.29999999999998</c:v>
                </c:pt>
                <c:pt idx="47">
                  <c:v>171.7</c:v>
                </c:pt>
                <c:pt idx="48">
                  <c:v>91.9</c:v>
                </c:pt>
                <c:pt idx="49">
                  <c:v>93.3</c:v>
                </c:pt>
                <c:pt idx="50">
                  <c:v>114.60000000000001</c:v>
                </c:pt>
                <c:pt idx="51">
                  <c:v>53.599999999999994</c:v>
                </c:pt>
                <c:pt idx="52">
                  <c:v>65.999999999999986</c:v>
                </c:pt>
                <c:pt idx="53">
                  <c:v>59.300000000000011</c:v>
                </c:pt>
                <c:pt idx="54">
                  <c:v>79.400000000000006</c:v>
                </c:pt>
                <c:pt idx="55">
                  <c:v>135.09999999999997</c:v>
                </c:pt>
                <c:pt idx="56">
                  <c:v>169</c:v>
                </c:pt>
                <c:pt idx="57">
                  <c:v>25.6</c:v>
                </c:pt>
                <c:pt idx="58">
                  <c:v>9.999999999999995E-2</c:v>
                </c:pt>
                <c:pt idx="59">
                  <c:v>50.3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1C1-4EB5-B43C-FE4B973C7D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808527"/>
        <c:axId val="955809007"/>
      </c:scatterChart>
      <c:valAx>
        <c:axId val="9558085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55809007"/>
        <c:crosses val="autoZero"/>
        <c:crossBetween val="midCat"/>
      </c:valAx>
      <c:valAx>
        <c:axId val="955809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5580852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</a:defRPr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359D0970-001C-1AD9-5802-E9D737497F0E}"/>
            </a:ext>
          </a:extLst>
        </cdr:cNvPr>
        <cdr:cNvSpPr/>
      </cdr:nvSpPr>
      <cdr:spPr>
        <a:xfrm xmlns:a="http://schemas.openxmlformats.org/drawingml/2006/main">
          <a:off x="-7032105" y="-1556792"/>
          <a:ext cx="4536504" cy="4680520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NG" kern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E8356-FFDA-4E74-B804-79023C7DD25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B32D8-F2D2-4D01-80A9-88F3B128A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4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DDCE7-616C-4285-A468-7301F171BC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D8F7-2BDD-4C56-98AF-2E212EF3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1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8800" y="304801"/>
            <a:ext cx="5486400" cy="251459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2895600"/>
            <a:ext cx="5486400" cy="9144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bg2">
                    <a:lumMod val="25000"/>
                    <a:lumOff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3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0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450" y="1676401"/>
            <a:ext cx="10058400" cy="1752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450" y="3581400"/>
            <a:ext cx="10058400" cy="1143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676401"/>
            <a:ext cx="484632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676401"/>
            <a:ext cx="484632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5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81163"/>
            <a:ext cx="4846320" cy="823912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05075"/>
            <a:ext cx="4846320" cy="3514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681163"/>
            <a:ext cx="4846320" cy="823912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505075"/>
            <a:ext cx="4846320" cy="3514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2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6172200" cy="51816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2" y="3124200"/>
            <a:ext cx="3657600" cy="28956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5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7239000" cy="6858000"/>
          </a:xfrm>
          <a:solidFill>
            <a:schemeClr val="bg1"/>
          </a:solidFill>
        </p:spPr>
        <p:txBody>
          <a:bodyPr tIns="36576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1" y="3124200"/>
            <a:ext cx="3657600" cy="28956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9000" y="0"/>
            <a:ext cx="228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365125"/>
            <a:ext cx="1828800" cy="5654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65125"/>
            <a:ext cx="8001000" cy="5654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7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100584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100584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0918" y="6392562"/>
            <a:ext cx="7082481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4400" y="6392562"/>
            <a:ext cx="12954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2EC29-B8C5-4C7A-B6DA-418494D5CB21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92562"/>
            <a:ext cx="10668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09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8800" y="605591"/>
            <a:ext cx="5857800" cy="2514599"/>
          </a:xfrm>
        </p:spPr>
        <p:txBody>
          <a:bodyPr>
            <a:normAutofit/>
          </a:bodyPr>
          <a:lstStyle/>
          <a:p>
            <a:r>
              <a:rPr lang="en-US" dirty="0"/>
              <a:t>TEAM ALPHA NBA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3120190"/>
            <a:ext cx="5486400" cy="914400"/>
          </a:xfrm>
        </p:spPr>
        <p:txBody>
          <a:bodyPr/>
          <a:lstStyle/>
          <a:p>
            <a:r>
              <a:rPr lang="en-US" dirty="0"/>
              <a:t>Exploring Draft Impact, Player Performance &amp; Career Longevity</a:t>
            </a:r>
          </a:p>
        </p:txBody>
      </p:sp>
    </p:spTree>
    <p:extLst>
      <p:ext uri="{BB962C8B-B14F-4D97-AF65-F5344CB8AC3E}">
        <p14:creationId xmlns:p14="http://schemas.microsoft.com/office/powerpoint/2010/main" val="57609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268760"/>
            <a:ext cx="100584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BRIEF OVERVIEW OF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819400"/>
            <a:ext cx="10058400" cy="1608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Purpose: Understand how draft position affects player success and career span</a:t>
            </a:r>
          </a:p>
        </p:txBody>
      </p:sp>
    </p:spTree>
    <p:extLst>
      <p:ext uri="{BB962C8B-B14F-4D97-AF65-F5344CB8AC3E}">
        <p14:creationId xmlns:p14="http://schemas.microsoft.com/office/powerpoint/2010/main" val="290508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KEY TAKEAWAY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Earlier draft picks tend to have longer careers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A996ACD-C613-41B2-BD89-0ED90A44C6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838200"/>
          <a:ext cx="61722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957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1" y="826168"/>
            <a:ext cx="100584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TOP SCORERS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7118" y="2194103"/>
            <a:ext cx="484632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Talent can emerge from any draft position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3A5759A-F102-4458-A634-6DAD033280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62362665"/>
              </p:ext>
            </p:extLst>
          </p:nvPr>
        </p:nvGraphicFramePr>
        <p:xfrm>
          <a:off x="6278563" y="1447800"/>
          <a:ext cx="5218037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839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600" y="70900"/>
            <a:ext cx="4819526" cy="1752600"/>
          </a:xfrm>
        </p:spPr>
        <p:txBody>
          <a:bodyPr>
            <a:normAutofit/>
          </a:bodyPr>
          <a:lstStyle/>
          <a:p>
            <a:r>
              <a:rPr lang="en-US" sz="4400" dirty="0"/>
              <a:t>LONGEVITY BY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9600" y="2060848"/>
            <a:ext cx="5427892" cy="4039943"/>
          </a:xfrm>
        </p:spPr>
        <p:txBody>
          <a:bodyPr>
            <a:normAutofit/>
          </a:bodyPr>
          <a:lstStyle/>
          <a:p>
            <a:r>
              <a:rPr lang="en-US" sz="4000" dirty="0"/>
              <a:t>Longevity isn’t just about talent—it’s also about the environment. </a:t>
            </a:r>
            <a:r>
              <a:rPr lang="en-US" sz="4400" dirty="0"/>
              <a:t>Teams</a:t>
            </a:r>
            <a:r>
              <a:rPr lang="en-US" sz="4000" dirty="0"/>
              <a:t> that invest in their players’ growth and well-being tend to retain them longer.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7E8013E-EFAC-456F-AD2C-6E5B050FAB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975721"/>
              </p:ext>
            </p:extLst>
          </p:nvPr>
        </p:nvGraphicFramePr>
        <p:xfrm>
          <a:off x="7032105" y="893774"/>
          <a:ext cx="4536504" cy="534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7E8013E-EFAC-456F-AD2C-6E5B050FAB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763420"/>
              </p:ext>
            </p:extLst>
          </p:nvPr>
        </p:nvGraphicFramePr>
        <p:xfrm>
          <a:off x="7032105" y="1088740"/>
          <a:ext cx="4572405" cy="468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9311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POINTS PER GAME BY DRAFT ROUND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1681163"/>
            <a:ext cx="4846320" cy="4556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While early picks often become stars, late-round players can still be valuable role players. Scouting for fit and potential matters just as much as draft order.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4FAEF82-6719-4621-B1F1-28FD2D60B0B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6275851"/>
              </p:ext>
            </p:extLst>
          </p:nvPr>
        </p:nvGraphicFramePr>
        <p:xfrm>
          <a:off x="479376" y="1463651"/>
          <a:ext cx="5434062" cy="4556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7879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DRAFT POSITION VS. WIN SHARES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3F08BB-F464-FB91-80DF-74C133120C7C}"/>
              </a:ext>
            </a:extLst>
          </p:cNvPr>
          <p:cNvSpPr/>
          <p:nvPr/>
        </p:nvSpPr>
        <p:spPr>
          <a:xfrm>
            <a:off x="1390582" y="1940333"/>
            <a:ext cx="9709720" cy="34563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25F362C-A38D-46C5-B46E-3DBDD0E0E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4390326"/>
              </p:ext>
            </p:extLst>
          </p:nvPr>
        </p:nvGraphicFramePr>
        <p:xfrm>
          <a:off x="1426368" y="1940333"/>
          <a:ext cx="9709720" cy="3456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45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D25A54-684E-4173-FCF4-1BC885ACF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56" y="1412776"/>
            <a:ext cx="1185664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028700" marR="0" lvl="1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downward trend: higher draft picks tend to contribute more to team success </a:t>
            </a:r>
          </a:p>
          <a:p>
            <a:pPr marL="1028700" marR="0" lvl="1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there are exceptions—some lower picks outperform expectations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N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trend reinforces the importance of early picks, but also highlights the need for smart scouting and development to uncover hidden gems.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473B6-2229-EBA5-CCFC-F2471EC36433}"/>
              </a:ext>
            </a:extLst>
          </p:cNvPr>
          <p:cNvSpPr txBox="1"/>
          <p:nvPr/>
        </p:nvSpPr>
        <p:spPr>
          <a:xfrm>
            <a:off x="1883532" y="614136"/>
            <a:ext cx="84249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NG" altLang="en-NG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Insight</a:t>
            </a:r>
            <a:endParaRPr kumimoji="0" lang="en-US" altLang="en-NG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86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3920A-5960-4AF6-B074-EF4477AF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DAFB05-DF3F-CCDA-7771-F9628315F936}"/>
              </a:ext>
            </a:extLst>
          </p:cNvPr>
          <p:cNvSpPr txBox="1"/>
          <p:nvPr/>
        </p:nvSpPr>
        <p:spPr>
          <a:xfrm>
            <a:off x="3048000" y="18108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Final Insights</a:t>
            </a:r>
            <a:endParaRPr lang="en-NG" sz="4800" dirty="0"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8F7FA25-30E2-45F6-7867-D1A6FCB8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061632"/>
            <a:ext cx="11665296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draft picks offer strong returns, but aren’t foolproof 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Longevity and performance are shaped by team culture and player fit 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scouting and development can turn late picks into valuable assets </a:t>
            </a:r>
            <a:endParaRPr kumimoji="0" lang="en-US" altLang="en-N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NG" altLang="en-N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NG" altLang="en-NG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in the NBA isn’t just about who you pick—it’s about how you support and develop them.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423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0616-6E7D-AF74-DE6A-3BFD8578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5F0D-1A0F-F482-BC35-CAFCD5884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484784"/>
            <a:ext cx="5857800" cy="2514599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4127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sketball 16x9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ketball presentation (widescreen).potx" id="{CC5AF3F1-F1AD-46F5-B229-4E1329F06412}" vid="{B7E1BF64-2168-4738-AA42-CF7C9F7F9E95}"/>
    </a:ext>
  </a:extLst>
</a:theme>
</file>

<file path=ppt/theme/theme2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Basketball presentation (widescreen)</Template>
  <TotalTime>34</TotalTime>
  <Words>276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Franklin Gothic Medium</vt:lpstr>
      <vt:lpstr>Impact</vt:lpstr>
      <vt:lpstr>Basketball 16x9</vt:lpstr>
      <vt:lpstr>TEAM ALPHA NBA ANALYSIS</vt:lpstr>
      <vt:lpstr>BRIEF OVERVIEW OF THE DASHBOARD</vt:lpstr>
      <vt:lpstr>KEY TAKEAWAY</vt:lpstr>
      <vt:lpstr>TOP SCORERS</vt:lpstr>
      <vt:lpstr>LONGEVITY BY TEAM</vt:lpstr>
      <vt:lpstr>AVERAGE POINTS PER GAME BY DRAFT ROUND</vt:lpstr>
      <vt:lpstr>DRAFT POSITION VS. WIN SHARES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Divine Nwokedi</dc:creator>
  <cp:lastModifiedBy>Divine Nwokedi</cp:lastModifiedBy>
  <cp:revision>1</cp:revision>
  <dcterms:created xsi:type="dcterms:W3CDTF">2025-11-17T15:51:29Z</dcterms:created>
  <dcterms:modified xsi:type="dcterms:W3CDTF">2025-11-17T16:26:06Z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